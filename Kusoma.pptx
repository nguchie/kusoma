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D5C4"/>
                </a:solidFill>
                <a:latin typeface="Calibri"/>
                <a:ea typeface="Calibri"/>
              </a:rPr>
              <a:t>FOR INDEPENDENT TUTORS IN KENYA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  <a:ea typeface="Calibri"/>
              </a:rPr>
              <a:t>Kusoma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E8F2EC"/>
                </a:solidFill>
                <a:latin typeface="Calibri"/>
                <a:ea typeface="Calibri"/>
              </a:rPr>
              <a:t>CBC-aligned tutoring between sessions.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D5E8DE"/>
                </a:solidFill>
                <a:latin typeface="Calibri"/>
                <a:ea typeface="Calibri"/>
              </a:rPr>
              <a:t>A tutor assigns a real CBC Maths topic. The student gets homework help
and practice in chat. The tutor sees who engaged — and can send a parent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D5C4"/>
                </a:solidFill>
                <a:latin typeface="Calibri"/>
                <a:ea typeface="Calibri"/>
              </a:rPr>
              <a:t>Pilot  ·  Grade 5 Mathematics  ·  Kenya CBC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6B52"/>
                </a:solidFill>
                <a:latin typeface="Calibri"/>
                <a:ea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8"/>
                </a:solidFill>
                <a:latin typeface="Calibri"/>
                <a:ea typeface="Calibri"/>
              </a:rPr>
              <a:t>Tutors only see a child a few hours a week.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9456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C45C26"/>
                </a:solidFill>
                <a:latin typeface="Calibri"/>
                <a:ea typeface="Calibri"/>
              </a:rPr>
              <a:t>01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1A1A18"/>
                </a:solidFill>
                <a:latin typeface="Calibri"/>
                <a:ea typeface="Calibri"/>
              </a:rPr>
              <a:t>Homework goes unanswered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5A54"/>
                </a:solidFill>
                <a:latin typeface="Calibri"/>
                <a:ea typeface="Calibri"/>
              </a:rPr>
              <a:t>Between lessons, the student is stuck with no one who knows the assigned topic.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6596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219456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C45C26"/>
                </a:solidFill>
                <a:latin typeface="Calibri"/>
                <a:ea typeface="Calibri"/>
              </a:rPr>
              <a:t>02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1A1A18"/>
                </a:solidFill>
                <a:latin typeface="Calibri"/>
                <a:ea typeface="Calibri"/>
              </a:rPr>
              <a:t>Practice is not CBC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5A54"/>
                </a:solidFill>
                <a:latin typeface="Calibri"/>
                <a:ea typeface="Calibri"/>
              </a:rPr>
              <a:t>Generic chatbots do not know Grade 5 Maths strands, sub-strands, or learning outcomes.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96596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1" y="219456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C45C26"/>
                </a:solidFill>
                <a:latin typeface="Calibri"/>
                <a:ea typeface="Calibri"/>
              </a:rPr>
              <a:t>03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1A1A18"/>
                </a:solidFill>
                <a:latin typeface="Calibri"/>
                <a:ea typeface="Calibri"/>
              </a:rPr>
              <a:t>Parents hear “they’re fine”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5A54"/>
                </a:solidFill>
                <a:latin typeface="Calibri"/>
                <a:ea typeface="Calibri"/>
              </a:rPr>
              <a:t>Tutors have no simple view of who engaged, where a child is stuck, or a weekly note home.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A54"/>
                </a:solidFill>
                <a:latin typeface="Calibri"/>
                <a:ea typeface="Calibri"/>
              </a:rPr>
              <a:t>Kusoma  · 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6B52"/>
                </a:solidFill>
                <a:latin typeface="Calibri"/>
                <a:ea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8"/>
                </a:solidFill>
                <a:latin typeface="Calibri"/>
                <a:ea typeface="Calibri"/>
              </a:rPr>
              <a:t>Kusoma keeps CBC Maths going between lessons.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9728" cy="960120"/>
          </a:xfrm>
          <a:prstGeom prst="rect">
            <a:avLst/>
          </a:prstGeom>
          <a:solidFill>
            <a:srgbClr val="1B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20823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4D3A"/>
                </a:solidFill>
                <a:latin typeface="Calibri"/>
                <a:ea typeface="Calibri"/>
              </a:rPr>
              <a:t>Tutor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075687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5A54"/>
                </a:solidFill>
                <a:latin typeface="Calibri"/>
                <a:ea typeface="Calibri"/>
              </a:rPr>
              <a:t>Assigns a real CBC topic, sees engagement, reviews weekly parent-report drafts.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79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926079"/>
            <a:ext cx="109728" cy="9601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72383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4D3A"/>
                </a:solidFill>
                <a:latin typeface="Calibri"/>
                <a:ea typeface="Calibri"/>
              </a:rPr>
              <a:t>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127247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5A54"/>
                </a:solidFill>
                <a:latin typeface="Calibri"/>
                <a:ea typeface="Calibri"/>
              </a:rPr>
              <a:t>Opens chat with their phone — no login. Homework help and topic practice.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77639"/>
            <a:ext cx="109728" cy="960120"/>
          </a:xfrm>
          <a:prstGeom prst="rect">
            <a:avLst/>
          </a:prstGeom>
          <a:solidFill>
            <a:srgbClr val="1B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23943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4D3A"/>
                </a:solidFill>
                <a:latin typeface="Calibri"/>
                <a:ea typeface="Calibri"/>
              </a:rPr>
              <a:t>Curriculum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178807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5A54"/>
                </a:solidFill>
                <a:latin typeface="Calibri"/>
                <a:ea typeface="Calibri"/>
              </a:rPr>
              <a:t>A separate CBC API holds Kenya’s syllabus and real exam-style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2920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029200"/>
            <a:ext cx="109728" cy="9601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175504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4D3A"/>
                </a:solidFill>
                <a:latin typeface="Calibri"/>
                <a:ea typeface="Calibri"/>
              </a:rPr>
              <a:t>Parent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230368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5A54"/>
                </a:solidFill>
                <a:latin typeface="Calibri"/>
                <a:ea typeface="Calibri"/>
              </a:rPr>
              <a:t>Gets a short weekly note the tutor can review and send — not a black box.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A54"/>
                </a:solidFill>
                <a:latin typeface="Calibri"/>
                <a:ea typeface="Calibri"/>
              </a:rPr>
              <a:t>Kusoma  · 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6B52"/>
                </a:solidFill>
                <a:latin typeface="Calibri"/>
                <a:ea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8"/>
                </a:solidFill>
                <a:latin typeface="Calibri"/>
                <a:ea typeface="Calibri"/>
              </a:rPr>
              <a:t>One app. Two surfaces. Live curriculum.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69748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438912" cy="438912"/>
          </a:xfrm>
          <a:prstGeom prst="ellipse">
            <a:avLst/>
          </a:prstGeom>
          <a:solidFill>
            <a:srgbClr val="0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9424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3464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1A18"/>
                </a:solidFill>
                <a:latin typeface="Calibri"/>
                <a:ea typeface="Calibri"/>
              </a:rPr>
              <a:t>Tutor assigns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A54"/>
                </a:solidFill>
                <a:latin typeface="Calibri"/>
                <a:ea typeface="Calibri"/>
              </a:rPr>
              <a:t>Browse Grade 5 Maths
and pick a learning outcome.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965960"/>
            <a:ext cx="269748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49039" y="2194560"/>
            <a:ext cx="438912" cy="438912"/>
          </a:xfrm>
          <a:prstGeom prst="ellipse">
            <a:avLst/>
          </a:prstGeom>
          <a:solidFill>
            <a:srgbClr val="0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249424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283464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1A18"/>
                </a:solidFill>
                <a:latin typeface="Calibri"/>
                <a:ea typeface="Calibri"/>
              </a:rPr>
              <a:t>Student chats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A54"/>
                </a:solidFill>
                <a:latin typeface="Calibri"/>
                <a:ea typeface="Calibri"/>
              </a:rPr>
              <a:t>Homework photo or text,
or “start” for topic practice.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65960"/>
            <a:ext cx="269748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29400" y="2194560"/>
            <a:ext cx="438912" cy="438912"/>
          </a:xfrm>
          <a:prstGeom prst="ellipse">
            <a:avLst/>
          </a:prstGeom>
          <a:solidFill>
            <a:srgbClr val="0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249424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83464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1A18"/>
                </a:solidFill>
                <a:latin typeface="Calibri"/>
                <a:ea typeface="Calibri"/>
              </a:rPr>
              <a:t>CBC + Claude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A54"/>
                </a:solidFill>
                <a:latin typeface="Calibri"/>
                <a:ea typeface="Calibri"/>
              </a:rPr>
              <a:t>CBC matches the topic;
Bedrock Claude tutors in that frame.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965960"/>
            <a:ext cx="269748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09759" y="2194560"/>
            <a:ext cx="438912" cy="438912"/>
          </a:xfrm>
          <a:prstGeom prst="ellipse">
            <a:avLst/>
          </a:prstGeom>
          <a:solidFill>
            <a:srgbClr val="0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59" y="2249424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7" y="283464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1A18"/>
                </a:solidFill>
                <a:latin typeface="Calibri"/>
                <a:ea typeface="Calibri"/>
              </a:rPr>
              <a:t>Tutor sees it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A54"/>
                </a:solidFill>
                <a:latin typeface="Calibri"/>
                <a:ea typeface="Calibri"/>
              </a:rPr>
              <a:t>Dashboard, message history,
weekly report drafts.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A54"/>
                </a:solidFill>
                <a:latin typeface="Calibri"/>
                <a:ea typeface="Calibri"/>
              </a:rPr>
              <a:t>Kusoma  · 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6B52"/>
                </a:solidFill>
                <a:latin typeface="Calibri"/>
                <a:ea typeface="Calibri"/>
              </a:rPr>
              <a:t>WHAT’S IN THIS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8"/>
                </a:solidFill>
                <a:latin typeface="Calibri"/>
                <a:ea typeface="Calibri"/>
              </a:rPr>
              <a:t>Ready to pilot with Grade 5 Maths.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5C26"/>
                </a:solidFill>
                <a:latin typeface="Calibri"/>
                <a:ea typeface="Calibri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A1A18"/>
                </a:solidFill>
                <a:latin typeface="Calibri"/>
                <a:ea typeface="Calibri"/>
              </a:rPr>
              <a:t>•  Tutor PWA — roster, assign topic, engagement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A1A18"/>
                </a:solidFill>
                <a:latin typeface="Calibri"/>
                <a:ea typeface="Calibri"/>
              </a:rPr>
              <a:t>•  Student web chat — phone identify, no login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A1A18"/>
                </a:solidFill>
                <a:latin typeface="Calibri"/>
                <a:ea typeface="Calibri"/>
              </a:rPr>
              <a:t>•  Homework help + topic practice (Claude on Bedrock)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A1A18"/>
                </a:solidFill>
                <a:latin typeface="Calibri"/>
                <a:ea typeface="Calibri"/>
              </a:rPr>
              <a:t>•  CBC API for syllabus tree, nodes, and content search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A1A18"/>
                </a:solidFill>
                <a:latin typeface="Calibri"/>
                <a:ea typeface="Calibri"/>
              </a:rPr>
              <a:t>•  Weekly parent-report drafts for the tutor to send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5C26"/>
                </a:solidFill>
                <a:latin typeface="Calibri"/>
                <a:ea typeface="Calibri"/>
              </a:rPr>
              <a:t>How it’s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A1A18"/>
                </a:solidFill>
                <a:latin typeface="Calibri"/>
                <a:ea typeface="Calibri"/>
              </a:rPr>
              <a:t>•  Next.js app + worker (nudges &amp; reports)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A1A18"/>
                </a:solidFill>
                <a:latin typeface="Calibri"/>
                <a:ea typeface="Calibri"/>
              </a:rPr>
              <a:t>•  Supabase — auth, Postgres, storage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A1A18"/>
                </a:solidFill>
                <a:latin typeface="Calibri"/>
                <a:ea typeface="Calibri"/>
              </a:rPr>
              <a:t>•  Redis — chat sessions and job queues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A1A18"/>
                </a:solidFill>
                <a:latin typeface="Calibri"/>
                <a:ea typeface="Calibri"/>
              </a:rPr>
              <a:t>•  Web chat first; WhatsApp can plug in later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A1A18"/>
                </a:solidFill>
                <a:latin typeface="Calibri"/>
                <a:ea typeface="Calibri"/>
              </a:rPr>
              <a:t>•  Live M-Pesa is out of scope for this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A54"/>
                </a:solidFill>
                <a:latin typeface="Calibri"/>
                <a:ea typeface="Calibri"/>
              </a:rPr>
              <a:t>Kusoma  · 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